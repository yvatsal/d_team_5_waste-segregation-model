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52128c5a0e707a68_3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h52128c5a0e707a68_3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Opening, about 45 seconds. Our project classifies a single waste image into Biodegradable, Nonbiodegradable or Recyclable. We use an EfficientNetB0 model adapted through transfer learning, then expose it through a Streamlit upload interface. The goal is to support segregation decisions. The current prototype classifies images and does not operate physical sorting hardware.Source: README.md, waste_demo.py, NoteBooks/version_4_latest.ipynb.</a:t>
            </a:r>
            <a:endParaRPr/>
          </a:p>
        </p:txBody>
      </p:sp>
      <p:sp>
        <p:nvSpPr>
          <p:cNvPr id="70" name="Google Shape;70;h52128c5a0e707a68_3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52128c5a0e707a68_3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h52128c5a0e707a68_3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Explain for about one minute. The saved V4 run lists 42,007 valid images across three classes. Each class receives its own random 80/20 split with seed 42, preserving class representation. Training uses 33,604 images and validation uses 8,403. Pillow checks readability, converts to RGB and resizes to 224 by 224 with bilinear interpolation. Pixel values remain float32 in the 0 to 255 range because EfficientNet includes preprocessing internally. Augmentation applies only during training. If asked about data leakage, say the code performs a stratified image split, but does not demonstrate duplicate or source-group separation. Source: V4 notebook cell 0 and saved output.</a:t>
            </a:r>
            <a:endParaRPr/>
          </a:p>
        </p:txBody>
      </p:sp>
      <p:sp>
        <p:nvSpPr>
          <p:cNvPr id="79" name="Google Shape;79;h52128c5a0e707a68_3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52128c5a0e707a68_3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h52128c5a0e707a68_3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h52128c5a0e707a68_3_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52128c5a0e707a68_9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52128c5a0e707a68_9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52128c5a0e707a68_3_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h52128c5a0e707a68_3_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Explain for one minute. This is the original plot embedded in the V4 notebook. Head training achieved a best validation accuracy of 92.84 percent. Fine-tuning achieved 97.52 percent, an improvement of 4.68 percentage points from the rounded reported values. Final validation loss was 0.0863 in the saved log. These are validation results on the same split used to choose checkpoints, not an independent test score. The training curve can suggest convergence but cannot by itself establish real-world robustness. Avoid claiming the older V2 comparison is controlled because preprocessing and evaluation setup may differ. Source: V4 notebook saved outputs 4 and 5.</a:t>
            </a:r>
            <a:endParaRPr/>
          </a:p>
        </p:txBody>
      </p:sp>
      <p:sp>
        <p:nvSpPr>
          <p:cNvPr id="121" name="Google Shape;121;h52128c5a0e707a68_3_6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52128c5a0e707a68_3_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h52128c5a0e707a68_3_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Explain for one minute. The screenshot reproduces the final saved notebook evaluation output. The selected model is the fine-tuned checkpoint, saved as best_model_v4_fixed.keras. For the live demo, run the README Streamlit command in Python 3.12 with compatible Keras, upload one waste image and point out the predicted label and all three scores. The app converts to RGB, bilinear-resizes to 224 by 224 and keeps values in 0 to 255, matching training. Scores are softmax outputs and are not guaranteed to be calibrated probabilities. This screenshot is evaluation evidence from the saved notebook and is not a new app inference. Source: V4 notebook output and waste_demo.py, README.md.</a:t>
            </a:r>
            <a:endParaRPr/>
          </a:p>
        </p:txBody>
      </p:sp>
      <p:sp>
        <p:nvSpPr>
          <p:cNvPr id="134" name="Google Shape;134;h52128c5a0e707a68_3_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 name="Shape 52"/>
        <p:cNvGrpSpPr/>
        <p:nvPr/>
      </p:nvGrpSpPr>
      <p:grpSpPr>
        <a:xfrm>
          <a:off x="0" y="0"/>
          <a:ext cx="0" cy="0"/>
          <a:chOff x="0" y="0"/>
          <a:chExt cx="0" cy="0"/>
        </a:xfrm>
      </p:grpSpPr>
      <p:sp>
        <p:nvSpPr>
          <p:cNvPr id="53" name="Google Shape;53;p15"/>
          <p:cNvSpPr txBox="1"/>
          <p:nvPr>
            <p:ph type="title"/>
          </p:nvPr>
        </p:nvSpPr>
        <p:spPr>
          <a:xfrm>
            <a:off x="914400" y="1943100"/>
            <a:ext cx="7315200" cy="7429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9pPr>
          </a:lstStyle>
          <a:p/>
        </p:txBody>
      </p:sp>
      <p:sp>
        <p:nvSpPr>
          <p:cNvPr id="54" name="Google Shape;54;p15"/>
          <p:cNvSpPr txBox="1"/>
          <p:nvPr>
            <p:ph idx="1" type="subTitle"/>
          </p:nvPr>
        </p:nvSpPr>
        <p:spPr>
          <a:xfrm>
            <a:off x="1371600" y="2828925"/>
            <a:ext cx="6400800" cy="5715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5" name="Shape 55"/>
        <p:cNvGrpSpPr/>
        <p:nvPr/>
      </p:nvGrpSpPr>
      <p:grpSpPr>
        <a:xfrm>
          <a:off x="0" y="0"/>
          <a:ext cx="0" cy="0"/>
          <a:chOff x="0" y="0"/>
          <a:chExt cx="0" cy="0"/>
        </a:xfrm>
      </p:grpSpPr>
      <p:sp>
        <p:nvSpPr>
          <p:cNvPr id="56" name="Google Shape;56;p16"/>
          <p:cNvSpPr txBox="1"/>
          <p:nvPr>
            <p:ph type="title"/>
          </p:nvPr>
        </p:nvSpPr>
        <p:spPr>
          <a:xfrm>
            <a:off x="914400" y="2143125"/>
            <a:ext cx="7315200" cy="8572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7" name="Shape 57"/>
        <p:cNvGrpSpPr/>
        <p:nvPr/>
      </p:nvGrpSpPr>
      <p:grpSpPr>
        <a:xfrm>
          <a:off x="0" y="0"/>
          <a:ext cx="0" cy="0"/>
          <a:chOff x="0" y="0"/>
          <a:chExt cx="0" cy="0"/>
        </a:xfrm>
      </p:grpSpPr>
      <p:sp>
        <p:nvSpPr>
          <p:cNvPr id="58" name="Google Shape;58;p17"/>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59" name="Google Shape;59;p17"/>
          <p:cNvSpPr txBox="1"/>
          <p:nvPr>
            <p:ph idx="1" type="body"/>
          </p:nvPr>
        </p:nvSpPr>
        <p:spPr>
          <a:xfrm>
            <a:off x="514350" y="1428750"/>
            <a:ext cx="8115300" cy="3200400"/>
          </a:xfrm>
          <a:prstGeom prst="rect">
            <a:avLst/>
          </a:prstGeom>
          <a:noFill/>
          <a:ln>
            <a:noFill/>
          </a:ln>
        </p:spPr>
        <p:txBody>
          <a:bodyPr anchorCtr="0" anchor="t" bIns="0" lIns="0" spcFirstLastPara="1" rIns="0" wrap="square" tIns="0">
            <a:normAutofit/>
          </a:bodyPr>
          <a:lstStyle>
            <a:lvl1pPr indent="-336550" lvl="0" marL="457200" marR="0" rtl="0" algn="l">
              <a:lnSpc>
                <a:spcPct val="110000"/>
              </a:lnSpc>
              <a:spcBef>
                <a:spcPts val="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1pPr>
            <a:lvl2pPr indent="-336550" lvl="1" marL="914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2pPr>
            <a:lvl3pPr indent="-336550" lvl="2" marL="1371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5pPr>
            <a:lvl6pPr indent="-336550" lvl="5" marL="27432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6pPr>
            <a:lvl7pPr indent="-336550" lvl="6" marL="3200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7pPr>
            <a:lvl8pPr indent="-336550" lvl="7" marL="3657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8pPr>
            <a:lvl9pPr indent="-336550" lvl="8" marL="4114800" marR="0" rtl="0" algn="l">
              <a:lnSpc>
                <a:spcPct val="110000"/>
              </a:lnSpc>
              <a:spcBef>
                <a:spcPts val="900"/>
              </a:spcBef>
              <a:spcAft>
                <a:spcPts val="900"/>
              </a:spcAft>
              <a:buClr>
                <a:schemeClr val="dk1"/>
              </a:buClr>
              <a:buSzPts val="1700"/>
              <a:buFont typeface="Arial"/>
              <a:buChar char="•"/>
              <a:defRPr b="0" i="0" sz="17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60" name="Shape 60"/>
        <p:cNvGrpSpPr/>
        <p:nvPr/>
      </p:nvGrpSpPr>
      <p:grpSpPr>
        <a:xfrm>
          <a:off x="0" y="0"/>
          <a:ext cx="0" cy="0"/>
          <a:chOff x="0" y="0"/>
          <a:chExt cx="0" cy="0"/>
        </a:xfrm>
      </p:grpSpPr>
      <p:sp>
        <p:nvSpPr>
          <p:cNvPr id="61" name="Google Shape;61;p18"/>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62" name="Google Shape;62;p18"/>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10000"/>
              </a:lnSpc>
              <a:spcBef>
                <a:spcPts val="900"/>
              </a:spcBef>
              <a:spcAft>
                <a:spcPts val="90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63" name="Google Shape;63;p18"/>
          <p:cNvSpPr txBox="1"/>
          <p:nvPr>
            <p:ph idx="2" type="body"/>
          </p:nvPr>
        </p:nvSpPr>
        <p:spPr>
          <a:xfrm>
            <a:off x="4857750" y="1428750"/>
            <a:ext cx="3771900" cy="3200400"/>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10000"/>
              </a:lnSpc>
              <a:spcBef>
                <a:spcPts val="900"/>
              </a:spcBef>
              <a:spcAft>
                <a:spcPts val="90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64" name="Shape 64"/>
        <p:cNvGrpSpPr/>
        <p:nvPr/>
      </p:nvGrpSpPr>
      <p:grpSpPr>
        <a:xfrm>
          <a:off x="0" y="0"/>
          <a:ext cx="0" cy="0"/>
          <a:chOff x="0" y="0"/>
          <a:chExt cx="0" cy="0"/>
        </a:xfrm>
      </p:grpSpPr>
      <p:sp>
        <p:nvSpPr>
          <p:cNvPr id="65" name="Google Shape;65;p19"/>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66" name="Google Shape;66;p19"/>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336550" lvl="0" marL="457200" marR="0" rtl="0" algn="l">
              <a:lnSpc>
                <a:spcPct val="110000"/>
              </a:lnSpc>
              <a:spcBef>
                <a:spcPts val="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1pPr>
            <a:lvl2pPr indent="-336550" lvl="1" marL="914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2pPr>
            <a:lvl3pPr indent="-336550" lvl="2" marL="1371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5pPr>
            <a:lvl6pPr indent="-336550" lvl="5" marL="27432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6pPr>
            <a:lvl7pPr indent="-336550" lvl="6" marL="3200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7pPr>
            <a:lvl8pPr indent="-336550" lvl="7" marL="3657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8pPr>
            <a:lvl9pPr indent="-336550" lvl="8" marL="4114800" marR="0" rtl="0" algn="l">
              <a:lnSpc>
                <a:spcPct val="110000"/>
              </a:lnSpc>
              <a:spcBef>
                <a:spcPts val="900"/>
              </a:spcBef>
              <a:spcAft>
                <a:spcPts val="900"/>
              </a:spcAft>
              <a:buClr>
                <a:schemeClr val="dk1"/>
              </a:buClr>
              <a:buSzPts val="1700"/>
              <a:buFont typeface="Arial"/>
              <a:buChar char="•"/>
              <a:defRPr b="0" i="0" sz="17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71" name="Shape 71"/>
        <p:cNvGrpSpPr/>
        <p:nvPr/>
      </p:nvGrpSpPr>
      <p:grpSpPr>
        <a:xfrm>
          <a:off x="0" y="0"/>
          <a:ext cx="0" cy="0"/>
          <a:chOff x="0" y="0"/>
          <a:chExt cx="0" cy="0"/>
        </a:xfrm>
      </p:grpSpPr>
      <p:sp>
        <p:nvSpPr>
          <p:cNvPr id="72" name="Google Shape;72;p20"/>
          <p:cNvSpPr/>
          <p:nvPr/>
        </p:nvSpPr>
        <p:spPr>
          <a:xfrm>
            <a:off x="457200" y="342900"/>
            <a:ext cx="8215313" cy="6143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3300">
                <a:solidFill>
                  <a:schemeClr val="dk1"/>
                </a:solidFill>
              </a:rPr>
              <a:t>Waste Segregation Using AI</a:t>
            </a:r>
            <a:endParaRPr sz="1100">
              <a:solidFill>
                <a:schemeClr val="dk1"/>
              </a:solidFill>
            </a:endParaRPr>
          </a:p>
        </p:txBody>
      </p:sp>
      <p:sp>
        <p:nvSpPr>
          <p:cNvPr id="73" name="Google Shape;73;p20"/>
          <p:cNvSpPr/>
          <p:nvPr/>
        </p:nvSpPr>
        <p:spPr>
          <a:xfrm>
            <a:off x="485775" y="1657350"/>
            <a:ext cx="7500938" cy="42862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900"/>
              <a:t>I</a:t>
            </a:r>
            <a:r>
              <a:rPr b="0" lang="en" sz="1900">
                <a:solidFill>
                  <a:schemeClr val="dk1"/>
                </a:solidFill>
              </a:rPr>
              <a:t>mage classification with EfficientNet-B0</a:t>
            </a:r>
            <a:endParaRPr sz="1100">
              <a:solidFill>
                <a:schemeClr val="dk1"/>
              </a:solidFill>
            </a:endParaRPr>
          </a:p>
        </p:txBody>
      </p:sp>
      <p:sp>
        <p:nvSpPr>
          <p:cNvPr id="74" name="Google Shape;74;p20"/>
          <p:cNvSpPr/>
          <p:nvPr/>
        </p:nvSpPr>
        <p:spPr>
          <a:xfrm>
            <a:off x="485775" y="2443163"/>
            <a:ext cx="7286625" cy="12430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chemeClr val="dk1"/>
                </a:solidFill>
              </a:rPr>
              <a:t>3 waste categories</a:t>
            </a:r>
            <a:endParaRPr sz="1100">
              <a:solidFill>
                <a:schemeClr val="dk1"/>
              </a:solidFill>
            </a:endParaRPr>
          </a:p>
          <a:p>
            <a:pPr indent="0" lvl="0" marL="0" marR="0" rtl="0" algn="l">
              <a:spcBef>
                <a:spcPts val="0"/>
              </a:spcBef>
              <a:spcAft>
                <a:spcPts val="0"/>
              </a:spcAft>
              <a:buNone/>
            </a:pPr>
            <a:r>
              <a:rPr b="0" lang="en" sz="1700">
                <a:solidFill>
                  <a:schemeClr val="dk1"/>
                </a:solidFill>
              </a:rPr>
              <a:t>42,007 valid images</a:t>
            </a:r>
            <a:endParaRPr sz="1100">
              <a:solidFill>
                <a:schemeClr val="dk1"/>
              </a:solidFill>
            </a:endParaRPr>
          </a:p>
          <a:p>
            <a:pPr indent="0" lvl="0" marL="0" marR="0" rtl="0" algn="l">
              <a:spcBef>
                <a:spcPts val="0"/>
              </a:spcBef>
              <a:spcAft>
                <a:spcPts val="0"/>
              </a:spcAft>
              <a:buNone/>
            </a:pPr>
            <a:r>
              <a:rPr b="0" lang="en" sz="1700">
                <a:solidFill>
                  <a:schemeClr val="dk1"/>
                </a:solidFill>
              </a:rPr>
              <a:t>97.52% reported validation accuracy</a:t>
            </a:r>
            <a:endParaRPr sz="1100">
              <a:solidFill>
                <a:schemeClr val="dk1"/>
              </a:solidFill>
            </a:endParaRPr>
          </a:p>
        </p:txBody>
      </p:sp>
      <p:sp>
        <p:nvSpPr>
          <p:cNvPr id="75" name="Google Shape;75;p20"/>
          <p:cNvSpPr/>
          <p:nvPr/>
        </p:nvSpPr>
        <p:spPr>
          <a:xfrm>
            <a:off x="485775" y="4094375"/>
            <a:ext cx="5199300" cy="9210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Font typeface="Arial"/>
              <a:buNone/>
            </a:pPr>
            <a:r>
              <a:rPr lang="en" sz="1200">
                <a:solidFill>
                  <a:schemeClr val="dk1"/>
                </a:solidFill>
              </a:rPr>
              <a:t>Yalamanchili Vatsal (20233585)</a:t>
            </a:r>
            <a:endParaRPr/>
          </a:p>
          <a:p>
            <a:pPr indent="0" lvl="0" marL="0" marR="0" rtl="0" algn="l">
              <a:spcBef>
                <a:spcPts val="0"/>
              </a:spcBef>
              <a:spcAft>
                <a:spcPts val="0"/>
              </a:spcAft>
              <a:buNone/>
            </a:pPr>
            <a:r>
              <a:rPr b="0" lang="en" sz="1200">
                <a:solidFill>
                  <a:schemeClr val="dk1"/>
                </a:solidFill>
              </a:rPr>
              <a:t>Ta</a:t>
            </a:r>
            <a:r>
              <a:rPr lang="en" sz="1200">
                <a:solidFill>
                  <a:schemeClr val="dk1"/>
                </a:solidFill>
              </a:rPr>
              <a:t>nishq Gupta (20233290)</a:t>
            </a:r>
            <a:endParaRPr sz="1200">
              <a:solidFill>
                <a:schemeClr val="dk1"/>
              </a:solidFill>
            </a:endParaRPr>
          </a:p>
          <a:p>
            <a:pPr indent="0" lvl="0" marL="0" marR="0" rtl="0" algn="l">
              <a:spcBef>
                <a:spcPts val="0"/>
              </a:spcBef>
              <a:spcAft>
                <a:spcPts val="0"/>
              </a:spcAft>
              <a:buNone/>
            </a:pPr>
            <a:r>
              <a:rPr lang="en" sz="1200">
                <a:solidFill>
                  <a:schemeClr val="dk1"/>
                </a:solidFill>
              </a:rPr>
              <a:t>Tanishk Agrawal (20233289)</a:t>
            </a:r>
            <a:endParaRPr sz="1200">
              <a:solidFill>
                <a:schemeClr val="dk1"/>
              </a:solidFill>
            </a:endParaRPr>
          </a:p>
          <a:p>
            <a:pPr indent="0" lvl="0" marL="0" marR="0" rtl="0" algn="l">
              <a:spcBef>
                <a:spcPts val="0"/>
              </a:spcBef>
              <a:spcAft>
                <a:spcPts val="0"/>
              </a:spcAft>
              <a:buNone/>
            </a:pPr>
            <a:r>
              <a:rPr lang="en" sz="1200">
                <a:solidFill>
                  <a:schemeClr val="dk1"/>
                </a:solidFill>
              </a:rPr>
              <a:t>Vaibhav Singh (20233300)</a:t>
            </a:r>
            <a:endParaRPr sz="11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80" name="Shape 80"/>
        <p:cNvGrpSpPr/>
        <p:nvPr/>
      </p:nvGrpSpPr>
      <p:grpSpPr>
        <a:xfrm>
          <a:off x="0" y="0"/>
          <a:ext cx="0" cy="0"/>
          <a:chOff x="0" y="0"/>
          <a:chExt cx="0" cy="0"/>
        </a:xfrm>
      </p:grpSpPr>
      <p:sp>
        <p:nvSpPr>
          <p:cNvPr id="81" name="Google Shape;81;p21"/>
          <p:cNvSpPr/>
          <p:nvPr/>
        </p:nvSpPr>
        <p:spPr>
          <a:xfrm>
            <a:off x="457200" y="342900"/>
            <a:ext cx="8215313" cy="6143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2500">
                <a:solidFill>
                  <a:srgbClr val="153D32"/>
                </a:solidFill>
              </a:rPr>
              <a:t>Dataset and image preparation</a:t>
            </a:r>
            <a:endParaRPr sz="1100"/>
          </a:p>
        </p:txBody>
      </p:sp>
      <p:sp>
        <p:nvSpPr>
          <p:cNvPr id="82" name="Google Shape;82;p21"/>
          <p:cNvSpPr/>
          <p:nvPr/>
        </p:nvSpPr>
        <p:spPr>
          <a:xfrm>
            <a:off x="8286750" y="4672013"/>
            <a:ext cx="428625" cy="2143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000">
                <a:solidFill>
                  <a:srgbClr val="60766B"/>
                </a:solidFill>
              </a:rPr>
              <a:t>02</a:t>
            </a:r>
            <a:endParaRPr sz="1100"/>
          </a:p>
        </p:txBody>
      </p:sp>
      <p:sp>
        <p:nvSpPr>
          <p:cNvPr id="83" name="Google Shape;83;p21"/>
          <p:cNvSpPr/>
          <p:nvPr/>
        </p:nvSpPr>
        <p:spPr>
          <a:xfrm>
            <a:off x="485775" y="1171575"/>
            <a:ext cx="3357563" cy="3000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60766B"/>
                </a:solidFill>
              </a:rPr>
              <a:t>Class</a:t>
            </a:r>
            <a:endParaRPr sz="1100"/>
          </a:p>
        </p:txBody>
      </p:sp>
      <p:sp>
        <p:nvSpPr>
          <p:cNvPr id="84" name="Google Shape;84;p21"/>
          <p:cNvSpPr/>
          <p:nvPr/>
        </p:nvSpPr>
        <p:spPr>
          <a:xfrm>
            <a:off x="4286250" y="1171575"/>
            <a:ext cx="1357313" cy="3000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60766B"/>
                </a:solidFill>
              </a:rPr>
              <a:t>Train</a:t>
            </a:r>
            <a:endParaRPr sz="1100"/>
          </a:p>
        </p:txBody>
      </p:sp>
      <p:sp>
        <p:nvSpPr>
          <p:cNvPr id="85" name="Google Shape;85;p21"/>
          <p:cNvSpPr/>
          <p:nvPr/>
        </p:nvSpPr>
        <p:spPr>
          <a:xfrm>
            <a:off x="6107906" y="1171575"/>
            <a:ext cx="1643063" cy="3000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60766B"/>
                </a:solidFill>
              </a:rPr>
              <a:t>Validation</a:t>
            </a:r>
            <a:endParaRPr sz="1100"/>
          </a:p>
        </p:txBody>
      </p:sp>
      <p:sp>
        <p:nvSpPr>
          <p:cNvPr id="86" name="Google Shape;86;p21"/>
          <p:cNvSpPr/>
          <p:nvPr/>
        </p:nvSpPr>
        <p:spPr>
          <a:xfrm>
            <a:off x="485775" y="1607344"/>
            <a:ext cx="3571875"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Biodegradable</a:t>
            </a:r>
            <a:endParaRPr sz="1100"/>
          </a:p>
        </p:txBody>
      </p:sp>
      <p:sp>
        <p:nvSpPr>
          <p:cNvPr id="87" name="Google Shape;87;p21"/>
          <p:cNvSpPr/>
          <p:nvPr/>
        </p:nvSpPr>
        <p:spPr>
          <a:xfrm>
            <a:off x="4286250" y="1607344"/>
            <a:ext cx="135731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11,615</a:t>
            </a:r>
            <a:endParaRPr sz="1100"/>
          </a:p>
        </p:txBody>
      </p:sp>
      <p:sp>
        <p:nvSpPr>
          <p:cNvPr id="88" name="Google Shape;88;p21"/>
          <p:cNvSpPr/>
          <p:nvPr/>
        </p:nvSpPr>
        <p:spPr>
          <a:xfrm>
            <a:off x="6107906" y="1607344"/>
            <a:ext cx="164306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2,904</a:t>
            </a:r>
            <a:endParaRPr sz="1100"/>
          </a:p>
        </p:txBody>
      </p:sp>
      <p:sp>
        <p:nvSpPr>
          <p:cNvPr id="89" name="Google Shape;89;p21"/>
          <p:cNvSpPr/>
          <p:nvPr/>
        </p:nvSpPr>
        <p:spPr>
          <a:xfrm>
            <a:off x="485775" y="2078831"/>
            <a:ext cx="3571875"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700">
                <a:solidFill>
                  <a:srgbClr val="233F37"/>
                </a:solidFill>
              </a:rPr>
              <a:t>Non Biodegradable</a:t>
            </a:r>
            <a:endParaRPr sz="1100"/>
          </a:p>
        </p:txBody>
      </p:sp>
      <p:sp>
        <p:nvSpPr>
          <p:cNvPr id="90" name="Google Shape;90;p21"/>
          <p:cNvSpPr/>
          <p:nvPr/>
        </p:nvSpPr>
        <p:spPr>
          <a:xfrm>
            <a:off x="4286250" y="2078831"/>
            <a:ext cx="135731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11,017</a:t>
            </a:r>
            <a:endParaRPr sz="1100"/>
          </a:p>
        </p:txBody>
      </p:sp>
      <p:sp>
        <p:nvSpPr>
          <p:cNvPr id="91" name="Google Shape;91;p21"/>
          <p:cNvSpPr/>
          <p:nvPr/>
        </p:nvSpPr>
        <p:spPr>
          <a:xfrm>
            <a:off x="6107906" y="2078831"/>
            <a:ext cx="164306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2,755</a:t>
            </a:r>
            <a:endParaRPr sz="1100"/>
          </a:p>
        </p:txBody>
      </p:sp>
      <p:sp>
        <p:nvSpPr>
          <p:cNvPr id="92" name="Google Shape;92;p21"/>
          <p:cNvSpPr/>
          <p:nvPr/>
        </p:nvSpPr>
        <p:spPr>
          <a:xfrm>
            <a:off x="485775" y="2550319"/>
            <a:ext cx="3571875"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Recyclable</a:t>
            </a:r>
            <a:endParaRPr sz="1100"/>
          </a:p>
        </p:txBody>
      </p:sp>
      <p:sp>
        <p:nvSpPr>
          <p:cNvPr id="93" name="Google Shape;93;p21"/>
          <p:cNvSpPr/>
          <p:nvPr/>
        </p:nvSpPr>
        <p:spPr>
          <a:xfrm>
            <a:off x="4286250" y="2550319"/>
            <a:ext cx="135731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10,972</a:t>
            </a:r>
            <a:endParaRPr sz="1100"/>
          </a:p>
        </p:txBody>
      </p:sp>
      <p:sp>
        <p:nvSpPr>
          <p:cNvPr id="94" name="Google Shape;94;p21"/>
          <p:cNvSpPr/>
          <p:nvPr/>
        </p:nvSpPr>
        <p:spPr>
          <a:xfrm>
            <a:off x="6107906" y="2550319"/>
            <a:ext cx="164306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700">
                <a:solidFill>
                  <a:srgbClr val="233F37"/>
                </a:solidFill>
              </a:rPr>
              <a:t>2,744</a:t>
            </a:r>
            <a:endParaRPr sz="1100"/>
          </a:p>
        </p:txBody>
      </p:sp>
      <p:sp>
        <p:nvSpPr>
          <p:cNvPr id="95" name="Google Shape;95;p21"/>
          <p:cNvSpPr/>
          <p:nvPr/>
        </p:nvSpPr>
        <p:spPr>
          <a:xfrm>
            <a:off x="485775" y="3021806"/>
            <a:ext cx="3571875"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700">
                <a:solidFill>
                  <a:srgbClr val="233F37"/>
                </a:solidFill>
              </a:rPr>
              <a:t>Total</a:t>
            </a:r>
            <a:endParaRPr sz="1100"/>
          </a:p>
        </p:txBody>
      </p:sp>
      <p:sp>
        <p:nvSpPr>
          <p:cNvPr id="96" name="Google Shape;96;p21"/>
          <p:cNvSpPr/>
          <p:nvPr/>
        </p:nvSpPr>
        <p:spPr>
          <a:xfrm>
            <a:off x="4286250" y="3021806"/>
            <a:ext cx="135731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700">
                <a:solidFill>
                  <a:srgbClr val="233F37"/>
                </a:solidFill>
              </a:rPr>
              <a:t>33,604</a:t>
            </a:r>
            <a:endParaRPr sz="1100"/>
          </a:p>
        </p:txBody>
      </p:sp>
      <p:sp>
        <p:nvSpPr>
          <p:cNvPr id="97" name="Google Shape;97;p21"/>
          <p:cNvSpPr/>
          <p:nvPr/>
        </p:nvSpPr>
        <p:spPr>
          <a:xfrm>
            <a:off x="6107906" y="3021806"/>
            <a:ext cx="1643063"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700">
                <a:solidFill>
                  <a:srgbClr val="233F37"/>
                </a:solidFill>
              </a:rPr>
              <a:t>8,403</a:t>
            </a:r>
            <a:endParaRPr sz="1100"/>
          </a:p>
        </p:txBody>
      </p:sp>
      <p:sp>
        <p:nvSpPr>
          <p:cNvPr id="98" name="Google Shape;98;p21"/>
          <p:cNvSpPr/>
          <p:nvPr/>
        </p:nvSpPr>
        <p:spPr>
          <a:xfrm>
            <a:off x="485775" y="3757613"/>
            <a:ext cx="8072438"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500">
                <a:solidFill>
                  <a:srgbClr val="233F37"/>
                </a:solidFill>
              </a:rPr>
              <a:t>RGB images at 224 × 224. Stratified 80/20 split, seed 42.</a:t>
            </a:r>
            <a:endParaRPr sz="1100"/>
          </a:p>
        </p:txBody>
      </p:sp>
      <p:sp>
        <p:nvSpPr>
          <p:cNvPr id="99" name="Google Shape;99;p21"/>
          <p:cNvSpPr/>
          <p:nvPr/>
        </p:nvSpPr>
        <p:spPr>
          <a:xfrm>
            <a:off x="485775" y="4200525"/>
            <a:ext cx="8072438" cy="5572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400">
                <a:solidFill>
                  <a:srgbClr val="52685E"/>
                </a:solidFill>
              </a:rPr>
              <a:t>Training augmentation: horizontal flips, rotation, zoom and contrast.</a:t>
            </a:r>
            <a:endParaRPr sz="1100"/>
          </a:p>
          <a:p>
            <a:pPr indent="0" lvl="0" marL="0" marR="0" rtl="0" algn="l">
              <a:spcBef>
                <a:spcPts val="0"/>
              </a:spcBef>
              <a:spcAft>
                <a:spcPts val="0"/>
              </a:spcAft>
              <a:buNone/>
            </a:pPr>
            <a:r>
              <a:rPr b="0" lang="en" sz="1400">
                <a:solidFill>
                  <a:srgbClr val="52685E"/>
                </a:solidFill>
              </a:rPr>
              <a:t>Float32 pixels stay at 0–255 to match EfficientNet preprocessing.</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104" name="Shape 104"/>
        <p:cNvGrpSpPr/>
        <p:nvPr/>
      </p:nvGrpSpPr>
      <p:grpSpPr>
        <a:xfrm>
          <a:off x="0" y="0"/>
          <a:ext cx="0" cy="0"/>
          <a:chOff x="0" y="0"/>
          <a:chExt cx="0" cy="0"/>
        </a:xfrm>
      </p:grpSpPr>
      <p:sp>
        <p:nvSpPr>
          <p:cNvPr id="105" name="Google Shape;105;p22"/>
          <p:cNvSpPr/>
          <p:nvPr/>
        </p:nvSpPr>
        <p:spPr>
          <a:xfrm>
            <a:off x="457200" y="342900"/>
            <a:ext cx="8215313" cy="6143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2500">
                <a:solidFill>
                  <a:srgbClr val="153D32"/>
                </a:solidFill>
              </a:rPr>
              <a:t>Model architecture and training</a:t>
            </a:r>
            <a:endParaRPr sz="1100"/>
          </a:p>
        </p:txBody>
      </p:sp>
      <p:sp>
        <p:nvSpPr>
          <p:cNvPr id="106" name="Google Shape;106;p22"/>
          <p:cNvSpPr/>
          <p:nvPr/>
        </p:nvSpPr>
        <p:spPr>
          <a:xfrm>
            <a:off x="8286750" y="4672013"/>
            <a:ext cx="428625" cy="2143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000">
                <a:solidFill>
                  <a:srgbClr val="60766B"/>
                </a:solidFill>
              </a:rPr>
              <a:t>03</a:t>
            </a:r>
            <a:endParaRPr sz="1100"/>
          </a:p>
        </p:txBody>
      </p:sp>
      <p:sp>
        <p:nvSpPr>
          <p:cNvPr id="107" name="Google Shape;107;p22"/>
          <p:cNvSpPr/>
          <p:nvPr/>
        </p:nvSpPr>
        <p:spPr>
          <a:xfrm>
            <a:off x="485775" y="1171575"/>
            <a:ext cx="3071813" cy="31432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700">
                <a:solidFill>
                  <a:srgbClr val="153D32"/>
                </a:solidFill>
              </a:rPr>
              <a:t>Architecture</a:t>
            </a:r>
            <a:endParaRPr sz="1100"/>
          </a:p>
        </p:txBody>
      </p:sp>
      <p:sp>
        <p:nvSpPr>
          <p:cNvPr id="108" name="Google Shape;108;p22"/>
          <p:cNvSpPr/>
          <p:nvPr/>
        </p:nvSpPr>
        <p:spPr>
          <a:xfrm>
            <a:off x="485775" y="1614488"/>
            <a:ext cx="4214813" cy="185737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500">
                <a:solidFill>
                  <a:srgbClr val="233F37"/>
                </a:solidFill>
              </a:rPr>
              <a:t>RGB image, 224 × 224</a:t>
            </a:r>
            <a:r>
              <a:rPr lang="en" sz="1500">
                <a:solidFill>
                  <a:srgbClr val="233F37"/>
                </a:solidFill>
              </a:rPr>
              <a:t>x3</a:t>
            </a:r>
            <a:endParaRPr sz="1100"/>
          </a:p>
          <a:p>
            <a:pPr indent="0" lvl="0" marL="0" marR="0" rtl="0" algn="l">
              <a:spcBef>
                <a:spcPts val="0"/>
              </a:spcBef>
              <a:spcAft>
                <a:spcPts val="0"/>
              </a:spcAft>
              <a:buNone/>
            </a:pPr>
            <a:r>
              <a:rPr b="0" lang="en" sz="1500">
                <a:solidFill>
                  <a:srgbClr val="233F37"/>
                </a:solidFill>
              </a:rPr>
              <a:t>EfficientNetB0 with ImageNet weights</a:t>
            </a:r>
            <a:endParaRPr sz="1100"/>
          </a:p>
          <a:p>
            <a:pPr indent="0" lvl="0" marL="0" marR="0" rtl="0" algn="l">
              <a:spcBef>
                <a:spcPts val="0"/>
              </a:spcBef>
              <a:spcAft>
                <a:spcPts val="0"/>
              </a:spcAft>
              <a:buNone/>
            </a:pPr>
            <a:r>
              <a:rPr b="0" lang="en" sz="1500">
                <a:solidFill>
                  <a:srgbClr val="233F37"/>
                </a:solidFill>
              </a:rPr>
              <a:t>Global average pooling</a:t>
            </a:r>
            <a:endParaRPr sz="1100"/>
          </a:p>
          <a:p>
            <a:pPr indent="0" lvl="0" marL="0" marR="0" rtl="0" algn="l">
              <a:spcBef>
                <a:spcPts val="0"/>
              </a:spcBef>
              <a:spcAft>
                <a:spcPts val="0"/>
              </a:spcAft>
              <a:buNone/>
            </a:pPr>
            <a:r>
              <a:rPr b="0" lang="en" sz="1500">
                <a:solidFill>
                  <a:srgbClr val="233F37"/>
                </a:solidFill>
              </a:rPr>
              <a:t>Dropout 0.35, Dense 128 with ReLU</a:t>
            </a:r>
            <a:endParaRPr sz="1100"/>
          </a:p>
          <a:p>
            <a:pPr indent="0" lvl="0" marL="0" marR="0" rtl="0" algn="l">
              <a:spcBef>
                <a:spcPts val="0"/>
              </a:spcBef>
              <a:spcAft>
                <a:spcPts val="0"/>
              </a:spcAft>
              <a:buNone/>
            </a:pPr>
            <a:r>
              <a:rPr b="0" lang="en" sz="1500">
                <a:solidFill>
                  <a:srgbClr val="233F37"/>
                </a:solidFill>
              </a:rPr>
              <a:t>Dropout 0.25, Dense 3 with softmax</a:t>
            </a:r>
            <a:endParaRPr sz="1100"/>
          </a:p>
        </p:txBody>
      </p:sp>
      <p:sp>
        <p:nvSpPr>
          <p:cNvPr id="109" name="Google Shape;109;p22"/>
          <p:cNvSpPr/>
          <p:nvPr/>
        </p:nvSpPr>
        <p:spPr>
          <a:xfrm>
            <a:off x="5143500" y="1171575"/>
            <a:ext cx="3500438" cy="35718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700">
                <a:solidFill>
                  <a:srgbClr val="153D32"/>
                </a:solidFill>
              </a:rPr>
              <a:t>Two-stage transfer learning</a:t>
            </a:r>
            <a:endParaRPr sz="1100"/>
          </a:p>
        </p:txBody>
      </p:sp>
      <p:sp>
        <p:nvSpPr>
          <p:cNvPr id="110" name="Google Shape;110;p22"/>
          <p:cNvSpPr/>
          <p:nvPr/>
        </p:nvSpPr>
        <p:spPr>
          <a:xfrm>
            <a:off x="5143500" y="1664494"/>
            <a:ext cx="3500438" cy="10144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500">
                <a:solidFill>
                  <a:srgbClr val="233F37"/>
                </a:solidFill>
              </a:rPr>
              <a:t>Stage 1: train the classifier</a:t>
            </a:r>
            <a:endParaRPr sz="1100"/>
          </a:p>
          <a:p>
            <a:pPr indent="0" lvl="0" marL="0" marR="0" rtl="0" algn="l">
              <a:spcBef>
                <a:spcPts val="0"/>
              </a:spcBef>
              <a:spcAft>
                <a:spcPts val="0"/>
              </a:spcAft>
              <a:buNone/>
            </a:pPr>
            <a:r>
              <a:rPr b="0" lang="en" sz="1500">
                <a:solidFill>
                  <a:srgbClr val="233F37"/>
                </a:solidFill>
              </a:rPr>
              <a:t>Frozen backbone, 8 epochs</a:t>
            </a:r>
            <a:endParaRPr sz="1100"/>
          </a:p>
          <a:p>
            <a:pPr indent="0" lvl="0" marL="0" marR="0" rtl="0" algn="l">
              <a:spcBef>
                <a:spcPts val="0"/>
              </a:spcBef>
              <a:spcAft>
                <a:spcPts val="0"/>
              </a:spcAft>
              <a:buNone/>
            </a:pPr>
            <a:r>
              <a:rPr b="0" lang="en" sz="1500">
                <a:solidFill>
                  <a:srgbClr val="233F37"/>
                </a:solidFill>
              </a:rPr>
              <a:t>Adam learning rate 0.001</a:t>
            </a:r>
            <a:endParaRPr sz="1100"/>
          </a:p>
        </p:txBody>
      </p:sp>
      <p:sp>
        <p:nvSpPr>
          <p:cNvPr id="111" name="Google Shape;111;p22"/>
          <p:cNvSpPr/>
          <p:nvPr/>
        </p:nvSpPr>
        <p:spPr>
          <a:xfrm>
            <a:off x="5143500" y="2878931"/>
            <a:ext cx="3500438" cy="10144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500">
                <a:solidFill>
                  <a:srgbClr val="233F37"/>
                </a:solidFill>
              </a:rPr>
              <a:t>Stage 2: fine-tune features</a:t>
            </a:r>
            <a:endParaRPr sz="1100"/>
          </a:p>
          <a:p>
            <a:pPr indent="0" lvl="0" marL="0" marR="0" rtl="0" algn="l">
              <a:spcBef>
                <a:spcPts val="0"/>
              </a:spcBef>
              <a:spcAft>
                <a:spcPts val="0"/>
              </a:spcAft>
              <a:buNone/>
            </a:pPr>
            <a:r>
              <a:rPr b="0" lang="en" sz="1500">
                <a:solidFill>
                  <a:srgbClr val="233F37"/>
                </a:solidFill>
              </a:rPr>
              <a:t>Last 50 layers, BatchNorm frozen</a:t>
            </a:r>
            <a:endParaRPr sz="1100"/>
          </a:p>
          <a:p>
            <a:pPr indent="0" lvl="0" marL="0" marR="0" rtl="0" algn="l">
              <a:spcBef>
                <a:spcPts val="0"/>
              </a:spcBef>
              <a:spcAft>
                <a:spcPts val="0"/>
              </a:spcAft>
              <a:buNone/>
            </a:pPr>
            <a:r>
              <a:rPr b="0" lang="en" sz="1500">
                <a:solidFill>
                  <a:srgbClr val="233F37"/>
                </a:solidFill>
              </a:rPr>
              <a:t>20 epochs, initial rate 0.00001</a:t>
            </a:r>
            <a:endParaRPr sz="1100"/>
          </a:p>
        </p:txBody>
      </p:sp>
      <p:sp>
        <p:nvSpPr>
          <p:cNvPr id="112" name="Google Shape;112;p22"/>
          <p:cNvSpPr/>
          <p:nvPr/>
        </p:nvSpPr>
        <p:spPr>
          <a:xfrm>
            <a:off x="485775" y="4193381"/>
            <a:ext cx="8108156" cy="60721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400">
                <a:solidFill>
                  <a:srgbClr val="52685E"/>
                </a:solidFill>
              </a:rPr>
              <a:t>Batch size 32. Best checkpoint by validation accuracy.</a:t>
            </a:r>
            <a:endParaRPr sz="1100"/>
          </a:p>
          <a:p>
            <a:pPr indent="0" lvl="0" marL="0" marR="0" rtl="0" algn="l">
              <a:spcBef>
                <a:spcPts val="0"/>
              </a:spcBef>
              <a:spcAft>
                <a:spcPts val="0"/>
              </a:spcAft>
              <a:buNone/>
            </a:pPr>
            <a:r>
              <a:rPr b="0" lang="en" sz="1400">
                <a:solidFill>
                  <a:srgbClr val="52685E"/>
                </a:solidFill>
              </a:rPr>
              <a:t>Early stopping and learning-rate reduction monitor validation loss.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In the last slide use the template and write live demonstration " id="117" name="Google Shape;117;p2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122" name="Shape 122"/>
        <p:cNvGrpSpPr/>
        <p:nvPr/>
      </p:nvGrpSpPr>
      <p:grpSpPr>
        <a:xfrm>
          <a:off x="0" y="0"/>
          <a:ext cx="0" cy="0"/>
          <a:chOff x="0" y="0"/>
          <a:chExt cx="0" cy="0"/>
        </a:xfrm>
      </p:grpSpPr>
      <p:sp>
        <p:nvSpPr>
          <p:cNvPr id="123" name="Google Shape;123;p24"/>
          <p:cNvSpPr/>
          <p:nvPr/>
        </p:nvSpPr>
        <p:spPr>
          <a:xfrm>
            <a:off x="457200" y="342900"/>
            <a:ext cx="8215313" cy="6143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2500">
                <a:solidFill>
                  <a:srgbClr val="153D32"/>
                </a:solidFill>
              </a:rPr>
              <a:t>Validation results</a:t>
            </a:r>
            <a:endParaRPr sz="1100"/>
          </a:p>
        </p:txBody>
      </p:sp>
      <p:sp>
        <p:nvSpPr>
          <p:cNvPr id="124" name="Google Shape;124;p24"/>
          <p:cNvSpPr/>
          <p:nvPr/>
        </p:nvSpPr>
        <p:spPr>
          <a:xfrm>
            <a:off x="8286750" y="4672013"/>
            <a:ext cx="428625" cy="2143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000">
                <a:solidFill>
                  <a:srgbClr val="60766B"/>
                </a:solidFill>
              </a:rPr>
              <a:t>04</a:t>
            </a:r>
            <a:endParaRPr sz="1100"/>
          </a:p>
        </p:txBody>
      </p:sp>
      <p:pic>
        <p:nvPicPr>
          <p:cNvPr id="125" name="Google Shape;125;p24"/>
          <p:cNvPicPr preferRelativeResize="0"/>
          <p:nvPr/>
        </p:nvPicPr>
        <p:blipFill rotWithShape="1">
          <a:blip r:embed="rId3">
            <a:alphaModFix/>
          </a:blip>
          <a:srcRect b="0" l="0" r="0" t="0"/>
          <a:stretch/>
        </p:blipFill>
        <p:spPr>
          <a:xfrm>
            <a:off x="474146" y="1185863"/>
            <a:ext cx="5573953" cy="3057525"/>
          </a:xfrm>
          <a:prstGeom prst="rect">
            <a:avLst/>
          </a:prstGeom>
          <a:noFill/>
          <a:ln>
            <a:noFill/>
          </a:ln>
        </p:spPr>
      </p:pic>
      <p:sp>
        <p:nvSpPr>
          <p:cNvPr id="126" name="Google Shape;126;p24"/>
          <p:cNvSpPr/>
          <p:nvPr/>
        </p:nvSpPr>
        <p:spPr>
          <a:xfrm>
            <a:off x="6429375" y="1343025"/>
            <a:ext cx="2143125" cy="457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2700">
                <a:solidFill>
                  <a:srgbClr val="52685E"/>
                </a:solidFill>
              </a:rPr>
              <a:t>92.84%</a:t>
            </a:r>
            <a:endParaRPr sz="1100"/>
          </a:p>
        </p:txBody>
      </p:sp>
      <p:sp>
        <p:nvSpPr>
          <p:cNvPr id="127" name="Google Shape;127;p24"/>
          <p:cNvSpPr/>
          <p:nvPr/>
        </p:nvSpPr>
        <p:spPr>
          <a:xfrm>
            <a:off x="6429375" y="1857375"/>
            <a:ext cx="2143125" cy="5572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400">
                <a:solidFill>
                  <a:srgbClr val="233F37"/>
                </a:solidFill>
              </a:rPr>
              <a:t>Best head-stage accuracy</a:t>
            </a:r>
            <a:endParaRPr sz="1100"/>
          </a:p>
        </p:txBody>
      </p:sp>
      <p:sp>
        <p:nvSpPr>
          <p:cNvPr id="128" name="Google Shape;128;p24"/>
          <p:cNvSpPr/>
          <p:nvPr/>
        </p:nvSpPr>
        <p:spPr>
          <a:xfrm>
            <a:off x="6429375" y="2564606"/>
            <a:ext cx="2143125" cy="4643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2700">
                <a:solidFill>
                  <a:srgbClr val="153D32"/>
                </a:solidFill>
              </a:rPr>
              <a:t>97.52%</a:t>
            </a:r>
            <a:endParaRPr sz="1100"/>
          </a:p>
        </p:txBody>
      </p:sp>
      <p:sp>
        <p:nvSpPr>
          <p:cNvPr id="129" name="Google Shape;129;p24"/>
          <p:cNvSpPr/>
          <p:nvPr/>
        </p:nvSpPr>
        <p:spPr>
          <a:xfrm>
            <a:off x="6429375" y="3121819"/>
            <a:ext cx="2214563" cy="71437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400">
                <a:solidFill>
                  <a:srgbClr val="233F37"/>
                </a:solidFill>
              </a:rPr>
              <a:t>Best fine-tuned accuracy</a:t>
            </a:r>
            <a:endParaRPr sz="1100"/>
          </a:p>
          <a:p>
            <a:pPr indent="0" lvl="0" marL="0" marR="0" rtl="0" algn="l">
              <a:spcBef>
                <a:spcPts val="0"/>
              </a:spcBef>
              <a:spcAft>
                <a:spcPts val="0"/>
              </a:spcAft>
              <a:buNone/>
            </a:pPr>
            <a:r>
              <a:rPr b="0" lang="en" sz="1400">
                <a:solidFill>
                  <a:srgbClr val="233F37"/>
                </a:solidFill>
              </a:rPr>
              <a:t>+4.68 percentage points</a:t>
            </a:r>
            <a:endParaRPr sz="1100"/>
          </a:p>
        </p:txBody>
      </p:sp>
      <p:sp>
        <p:nvSpPr>
          <p:cNvPr id="130" name="Google Shape;130;p24"/>
          <p:cNvSpPr/>
          <p:nvPr/>
        </p:nvSpPr>
        <p:spPr>
          <a:xfrm>
            <a:off x="485775" y="4357688"/>
            <a:ext cx="8001000" cy="5357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300">
                <a:solidFill>
                  <a:srgbClr val="52685E"/>
                </a:solidFill>
              </a:rPr>
              <a:t>Original saved notebook plot. Results use 8,403 validation images.</a:t>
            </a:r>
            <a:endParaRPr sz="1100"/>
          </a:p>
          <a:p>
            <a:pPr indent="0" lvl="0" marL="0" marR="0" rtl="0" algn="l">
              <a:spcBef>
                <a:spcPts val="0"/>
              </a:spcBef>
              <a:spcAft>
                <a:spcPts val="0"/>
              </a:spcAft>
              <a:buNone/>
            </a:pPr>
            <a:r>
              <a:rPr b="0" lang="en" sz="1300">
                <a:solidFill>
                  <a:srgbClr val="52685E"/>
                </a:solidFill>
              </a:rPr>
              <a:t>Checkpoint selection also uses this split. Independent test performance remains unmeasured.</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135" name="Shape 135"/>
        <p:cNvGrpSpPr/>
        <p:nvPr/>
      </p:nvGrpSpPr>
      <p:grpSpPr>
        <a:xfrm>
          <a:off x="0" y="0"/>
          <a:ext cx="0" cy="0"/>
          <a:chOff x="0" y="0"/>
          <a:chExt cx="0" cy="0"/>
        </a:xfrm>
      </p:grpSpPr>
      <p:sp>
        <p:nvSpPr>
          <p:cNvPr id="136" name="Google Shape;136;p25"/>
          <p:cNvSpPr/>
          <p:nvPr/>
        </p:nvSpPr>
        <p:spPr>
          <a:xfrm>
            <a:off x="457200" y="342900"/>
            <a:ext cx="8215313" cy="6143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2500">
                <a:solidFill>
                  <a:srgbClr val="153D32"/>
                </a:solidFill>
              </a:rPr>
              <a:t>Saved result and demo workflow</a:t>
            </a:r>
            <a:endParaRPr sz="1100"/>
          </a:p>
        </p:txBody>
      </p:sp>
      <p:sp>
        <p:nvSpPr>
          <p:cNvPr id="137" name="Google Shape;137;p25"/>
          <p:cNvSpPr/>
          <p:nvPr/>
        </p:nvSpPr>
        <p:spPr>
          <a:xfrm>
            <a:off x="8286750" y="4672013"/>
            <a:ext cx="428625" cy="2143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000">
                <a:solidFill>
                  <a:srgbClr val="60766B"/>
                </a:solidFill>
              </a:rPr>
              <a:t>05</a:t>
            </a:r>
            <a:endParaRPr sz="1100"/>
          </a:p>
        </p:txBody>
      </p:sp>
      <p:pic>
        <p:nvPicPr>
          <p:cNvPr id="138" name="Google Shape;138;p25"/>
          <p:cNvPicPr preferRelativeResize="0"/>
          <p:nvPr/>
        </p:nvPicPr>
        <p:blipFill rotWithShape="1">
          <a:blip r:embed="rId3">
            <a:alphaModFix/>
          </a:blip>
          <a:srcRect b="0" l="0" r="0" t="0"/>
          <a:stretch/>
        </p:blipFill>
        <p:spPr>
          <a:xfrm>
            <a:off x="532735" y="1207294"/>
            <a:ext cx="5142449" cy="3178969"/>
          </a:xfrm>
          <a:prstGeom prst="rect">
            <a:avLst/>
          </a:prstGeom>
          <a:noFill/>
          <a:ln>
            <a:noFill/>
          </a:ln>
        </p:spPr>
      </p:pic>
      <p:sp>
        <p:nvSpPr>
          <p:cNvPr id="139" name="Google Shape;139;p25"/>
          <p:cNvSpPr/>
          <p:nvPr/>
        </p:nvSpPr>
        <p:spPr>
          <a:xfrm>
            <a:off x="6129338" y="1228725"/>
            <a:ext cx="2536031" cy="571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100"/>
          </a:p>
        </p:txBody>
      </p:sp>
      <p:sp>
        <p:nvSpPr>
          <p:cNvPr id="140" name="Google Shape;140;p25"/>
          <p:cNvSpPr/>
          <p:nvPr/>
        </p:nvSpPr>
        <p:spPr>
          <a:xfrm>
            <a:off x="6129338" y="1950244"/>
            <a:ext cx="2536031" cy="219313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100"/>
          </a:p>
        </p:txBody>
      </p:sp>
      <p:sp>
        <p:nvSpPr>
          <p:cNvPr id="141" name="Google Shape;141;p25"/>
          <p:cNvSpPr/>
          <p:nvPr/>
        </p:nvSpPr>
        <p:spPr>
          <a:xfrm>
            <a:off x="485775" y="4443413"/>
            <a:ext cx="7858125" cy="4643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en" sz="1200">
                <a:solidFill>
                  <a:srgbClr val="52685E"/>
                </a:solidFill>
              </a:rPr>
              <a:t>Screenshot of saved evaluation output. Model: best_model_v4_fixed.keras</a:t>
            </a:r>
            <a:endParaRPr sz="1100"/>
          </a:p>
          <a:p>
            <a:pPr indent="0" lvl="0" marL="0" marR="0" rtl="0" algn="l">
              <a:spcBef>
                <a:spcPts val="0"/>
              </a:spcBef>
              <a:spcAft>
                <a:spcPts val="0"/>
              </a:spcAft>
              <a:buNone/>
            </a:pPr>
            <a:r>
              <a:rPr b="0" lang="en" sz="1200">
                <a:solidFill>
                  <a:srgbClr val="52685E"/>
                </a:solidFill>
              </a:rPr>
              <a:t>Demo scores are experimental and may be uncalibrated.</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